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2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F3D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Yên tĩnh</c:v>
                  </c:pt>
                  <c:pt idx="1">
                    <c:v>Nhiễu nhẹ (&lt;50dB)</c:v>
                  </c:pt>
                  <c:pt idx="2">
                    <c:v>Nhiễu vừa (&lt;70dB)</c:v>
                  </c:pt>
                  <c:pt idx="3">
                    <c:v>Nhiễu cao (&gt;70dB)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93</c:v>
                </c:pt>
                <c:pt idx="2">
                  <c:v>88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2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FAR (%) — Chấp nhận sai</c:v>
                </c:pt>
              </c:strCache>
            </c:strRef>
          </c:tx>
          <c:spPr>
            <a:solidFill>
              <a:srgbClr val="DC2626"/>
            </a:solidFill>
            <a:ln w="3175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0.4</c:v>
                  </c:pt>
                  <c:pt idx="1">
                    <c:v>0.5</c:v>
                  </c:pt>
                  <c:pt idx="2">
                    <c:v>0.6</c:v>
                  </c:pt>
                  <c:pt idx="3">
                    <c:v>0.7</c:v>
                  </c:pt>
                  <c:pt idx="4">
                    <c:v>0.8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8</c:v>
                </c:pt>
                <c:pt idx="2">
                  <c:v>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FRR (%) — Từ chối sai</c:v>
                </c:pt>
              </c:strCache>
            </c:strRef>
          </c:tx>
          <c:spPr>
            <a:solidFill>
              <a:srgbClr val="059669"/>
            </a:solidFill>
            <a:ln w="3175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0.4</c:v>
                  </c:pt>
                  <c:pt idx="1">
                    <c:v>0.5</c:v>
                  </c:pt>
                  <c:pt idx="2">
                    <c:v>0.6</c:v>
                  </c:pt>
                  <c:pt idx="3">
                    <c:v>0.7</c:v>
                  </c:pt>
                  <c:pt idx="4">
                    <c:v>0.8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6</c:v>
                </c:pt>
                <c:pt idx="3">
                  <c:v>12</c:v>
                </c:pt>
                <c:pt idx="4">
                  <c:v>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4008"/>
            <a:ext cx="91440" cy="5015484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4008"/>
            <a:ext cx="91440" cy="5015484"/>
          </a:xfrm>
          <a:prstGeom prst="rect">
            <a:avLst/>
          </a:prstGeom>
          <a:solidFill>
            <a:srgbClr val="0F2840"/>
          </a:solidFill>
          <a:ln w="12700">
            <a:solidFill>
              <a:srgbClr val="0F2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82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250" kern="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 ÁN CUỐI KỲ  ·  MÔN HỌC: CÔNG NGHỆ IOT HIỆN ĐẠI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ĐẠI HỌC CÔNG NGHIỆP TP.HCM  —  KHOA CÔNG NGHỆ THÔNG TIN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74320" y="100584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MỞ KHÓA CỬA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DIỆN GIỌNG NÓI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74320" y="239572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ĐIỀU KHIỂN TỪ XA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1097280" y="3145536"/>
            <a:ext cx="6949440" cy="0"/>
          </a:xfrm>
          <a:prstGeom prst="line">
            <a:avLst/>
          </a:prstGeom>
          <a:noFill/>
          <a:ln w="1524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32461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viên thực hiện: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Châu Quốc Vinh (22681761)  •  Vũ Trọng Nghĩa (22674071)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4320" y="36027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hướng dẫn: </a:t>
            </a:r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ThS. Nguyễn Ngọc Lễ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" y="4160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 phố Hồ Chí Minh, tháng 5 năm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do chọn đề tài &amp; Xu hướng bảo mật sinh trắc học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2296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mạng IoT 4.0 đặt ra yêu cầu bảo mật thông minh, phi vật lý.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 truyền thống (chìa cơ học, mã số) dễ mất, sao chép, đánh cắp.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trắc học giọng nói (Voiceprint) là đặc điểm cá nhân, không thể chuyển nhượng.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tập trung vào định danh người nói (Who is speaking), không phải nội dung.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điều khiển từ xa: quản lý an ninh mọi lúc, mọi nơi qua ứng dụng di động.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349240" y="804672"/>
            <a:ext cx="3520440" cy="1188720"/>
          </a:xfrm>
          <a:prstGeom prst="rect">
            <a:avLst/>
          </a:prstGeom>
          <a:solidFill>
            <a:srgbClr val="0F2840"/>
          </a:solidFill>
          <a:ln w="12700">
            <a:solidFill>
              <a:srgbClr val="1E4D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49240" y="87782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93–95%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349240" y="15179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xác thực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349240" y="2176272"/>
            <a:ext cx="3520440" cy="1188720"/>
          </a:xfrm>
          <a:prstGeom prst="rect">
            <a:avLst/>
          </a:prstGeom>
          <a:solidFill>
            <a:srgbClr val="1A2C1A"/>
          </a:solidFill>
          <a:ln w="12700">
            <a:solidFill>
              <a:srgbClr val="1E4D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49240" y="224942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349240" y="28895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phản hồi end-to-end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9240" y="3547872"/>
            <a:ext cx="3520440" cy="1188720"/>
          </a:xfrm>
          <a:prstGeom prst="rect">
            <a:avLst/>
          </a:prstGeom>
          <a:solidFill>
            <a:srgbClr val="1A1030"/>
          </a:solidFill>
          <a:ln w="12700">
            <a:solidFill>
              <a:srgbClr val="1E4D7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9240" y="3621024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256D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349240" y="4261104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đặc trưng Embedding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49240" y="4133088"/>
            <a:ext cx="3520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 kê hệ thống thực tế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hạn chế của hệ thống khóa truyền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206240" cy="1874520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841248"/>
            <a:ext cx="420624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78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Thất lạc &amp; sao chép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136245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Chìa khóa vật lý có thể mất, bị nhân bản trái phép mà chủ nhà không hay biết.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81728" y="841248"/>
            <a:ext cx="4206240" cy="187452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1728" y="841248"/>
            <a:ext cx="420624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784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Rò rỉ mã PIN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18888" y="136245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số bàn phím bị đánh cắp qua quan sát trực tiếp (shoulder surfing) hoặc camera.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6888" y="2898648"/>
            <a:ext cx="4206240" cy="187452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" y="2898648"/>
            <a:ext cx="4206240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Thiếu điều khiển từ xa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4048" y="341985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thể cấp/thu hồi quyền truy cập hoặc giám sát lịch sử từ xa qua smartphone.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81728" y="2898648"/>
            <a:ext cx="4206240" cy="187452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1728" y="2898648"/>
            <a:ext cx="42062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03580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cảnh báo bất thường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18888" y="3419856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cơ học không ghi nhận, không phân biệt nỗ lực xâm nhập với mở cửa hợp lệ.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nghiên cứu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841248"/>
            <a:ext cx="2788920" cy="91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875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56616" y="1591056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phần cứng nhúng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1208" y="2176272"/>
            <a:ext cx="22402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" y="226771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module điều khiển trung tâm ESP32-S3, tích hợp microphone MEMS INMP441, cảm biến HC-SR04, Servo SG90 và màn hình OLED trong một hệ thống nhúng hoàn chỉnh.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91256" y="84124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1256" y="841248"/>
            <a:ext cx="2788920" cy="914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91256" y="9875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00984" y="1591056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 toán AI xác thực giọng nói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465576" y="2176272"/>
            <a:ext cx="22402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226771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pipeline WeSpeaker trên server cloud: chuẩn hóa WAV 16kHz, trích xuất vector đặc trưng 256 chiều và so sánh Cosine Similarity với ngưỡng an toàn 0.6.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35624" y="841248"/>
            <a:ext cx="27889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35624" y="841248"/>
            <a:ext cx="278892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35624" y="987552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45352" y="1591056"/>
            <a:ext cx="257860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&amp; hạ tầng đa nền tảng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9944" y="2176272"/>
            <a:ext cx="22402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267712"/>
            <a:ext cx="257860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triển app React Native (Android/iOS), backend Flask + MongoDB Atlas, tích hợp MQTT (HiveMQ) và Telegram Bot API cho điều khiển từ xa và cảnh báo bất thường.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Phạm vi nghiên cứu &amp; Đối tượng thụ hưởng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5303520" cy="822960"/>
          </a:xfrm>
          <a:prstGeom prst="rect">
            <a:avLst/>
          </a:prstGeom>
          <a:solidFill>
            <a:srgbClr val="0F2840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841248"/>
            <a:ext cx="73152" cy="8229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Ứng dụng (Mobile Layer)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 · Android &amp; iOS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" y="1810512"/>
            <a:ext cx="5303520" cy="822960"/>
          </a:xfrm>
          <a:prstGeom prst="rect">
            <a:avLst/>
          </a:prstGeom>
          <a:solidFill>
            <a:srgbClr val="0F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" y="1810512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Truyền thông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21579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MQTT (HiveMQ) · Telegram Bot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" y="2779776"/>
            <a:ext cx="5303520" cy="822960"/>
          </a:xfrm>
          <a:prstGeom prst="rect">
            <a:avLst/>
          </a:prstGeom>
          <a:solidFill>
            <a:srgbClr val="0F28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" y="2779776"/>
            <a:ext cx="73152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Xử lý Trung tâm (Cloud)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" y="31272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Docker · MongoDB Atlas · WeSpeaker AI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" y="3749040"/>
            <a:ext cx="5303520" cy="822960"/>
          </a:xfrm>
          <a:prstGeom prst="rect">
            <a:avLst/>
          </a:prstGeom>
          <a:solidFill>
            <a:srgbClr val="0F2840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888" y="3749040"/>
            <a:ext cx="73152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03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Tầng Thiết bị (Edge Layer)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· INMP441 · HC-SR04 · Servo SG90 · OLED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0" y="8412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Đối tượng thụ hưởng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60720" y="1298448"/>
            <a:ext cx="31089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97880" y="13898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Hộ gia đình &amp; Căn hộ thông minh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760720" y="2011680"/>
            <a:ext cx="31089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897880" y="21031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Văn phòng cần kiểm soát ra vào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760720" y="2724912"/>
            <a:ext cx="310896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897880" y="281635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&amp; Giảng dạy IoT / AI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60720" y="3493008"/>
            <a:ext cx="3108960" cy="107899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35661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 hạn phạm vi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897880" y="385876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thực nghiệm trong môi trường nhà ở; chưa triển khai PCB chuyên dụng; kiểm thử trên Android 10+.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Phương pháp nghiên cứu thực nghiệm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841248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950976"/>
            <a:ext cx="914400" cy="9144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9509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38328" y="1975104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Nghiên cứu lý thuyết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" y="2532888"/>
            <a:ext cx="1664208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633472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hiểu giao thức I2S, kỹ thuật DSP, mô hình học sâu Speaker Verification (ECAPA-TDNN, ResNet), kiến trúc MQTT và thiết kế RESTful API.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76856" y="228600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41448" y="841248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41448" y="841248"/>
            <a:ext cx="20299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99232" y="950976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9232" y="9509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2532888" y="1975104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&amp; Mô phỏng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24328" y="2532888"/>
            <a:ext cx="1664208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32888" y="2633472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Xây dựng kiến trúc hướng sự kiện, vẽ sơ đồ khối chức năng 5 tầng, thiết kế bảng phân công GPIO và luồng dữ liệu end-to-end.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71416" y="228600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841248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841248"/>
            <a:ext cx="2029968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93792" y="950976"/>
            <a:ext cx="914400" cy="9144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93792" y="9509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727448" y="1975104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nghiệm &amp; Triển khai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18888" y="2532888"/>
            <a:ext cx="1664208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27448" y="2633472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 trình firmware C++ trên Arduino IDE; triển khai backend Flask/Docker/ngrok; đóng gói ứng dụng Expo React Native.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65976" y="2286000"/>
            <a:ext cx="164592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0568" y="841248"/>
            <a:ext cx="2029968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30568" y="841248"/>
            <a:ext cx="20299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88352" y="950976"/>
            <a:ext cx="914400" cy="9144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88352" y="950976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922008" y="1975104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&amp; Tối ưu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013448" y="2532888"/>
            <a:ext cx="1664208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2633472"/>
            <a:ext cx="18470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9 kịch bản vận hành; đo FAR/FRR; điều chỉnh Threshold về 0.6 để cân bằng bảo mật và trải nghiệm người dùng.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phần cứng: Ưu thế ESP32-S3 trong xử lý AI tại biên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68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số kỹ thuật nổi bật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" y="1261872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CPU: Xtensa® LX7 lõi kép, tần số 240 MHz — xử lý song song đa tác vụ.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Acceleration: Tập lệnh vector tăng tốc DSP &amp; mạng nơ-ron tại biên.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ngoại vi 8 MB qua SPI tốc độ cao — đủ dung tích cho audio buffer (~3s ghi âm WAV 16kHz).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16 MB — lưu firmware, mô hình wake-word và certificate SSL.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2.4 GHz (802.11 b/g/n) + Bluetooth 5.0 LE tích hợp.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đa giao tiếp: I2S, I2C, SPI, UART, PWM — kết nối toàn bộ cảm biến/chấp hành.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áp hoạt động 3.3V, hỗ trợ Deep Sleep tiết kiệm năng lượng.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0" y="841248"/>
            <a:ext cx="3566160" cy="896112"/>
          </a:xfrm>
          <a:prstGeom prst="rect">
            <a:avLst/>
          </a:prstGeom>
          <a:solidFill>
            <a:srgbClr val="0F2840"/>
          </a:solidFill>
          <a:ln w="12700">
            <a:solidFill>
              <a:srgbClr val="00C8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0" y="841248"/>
            <a:ext cx="64008" cy="896112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58968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58968" y="12070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 lý tín hiệu âm thanh cục bộ, giảm phụ thuộc cloud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03520" y="1874520"/>
            <a:ext cx="3566160" cy="896112"/>
          </a:xfrm>
          <a:prstGeom prst="rect">
            <a:avLst/>
          </a:prstGeom>
          <a:solidFill>
            <a:srgbClr val="1A1F0F"/>
          </a:solidFill>
          <a:ln w="12700">
            <a:solidFill>
              <a:srgbClr val="FFB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303520" y="1874520"/>
            <a:ext cx="64008" cy="896112"/>
          </a:xfrm>
          <a:prstGeom prst="rect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58968" y="19476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2240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0: cảm biến &amp; MQTT | Core 1: thu âm &amp; HTTPS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03520" y="2907792"/>
            <a:ext cx="3566160" cy="896112"/>
          </a:xfrm>
          <a:prstGeom prst="rect">
            <a:avLst/>
          </a:prstGeom>
          <a:solidFill>
            <a:srgbClr val="120F1C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03520" y="2907792"/>
            <a:ext cx="64008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8968" y="29809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Buffer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58968" y="327355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~256 KB audio buffer trước khi truyền HTTPS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3941064"/>
            <a:ext cx="3566160" cy="896112"/>
          </a:xfrm>
          <a:prstGeom prst="rect">
            <a:avLst/>
          </a:prstGeom>
          <a:solidFill>
            <a:srgbClr val="0A1F14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03520" y="3941064"/>
            <a:ext cx="64008" cy="896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58968" y="4014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HTTPS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58968" y="43068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TLS 1.2/1.3 — truyền sinh trắc học an toàn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I2S &amp; Microphone kỹ thuật số INMP441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I2S (Inter-IC Sound)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388620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là chuẩn giao tiếp âm thanh số 3-dây (WS, SCK, SD) giữa các IC tích hợp.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 hiệu âm thanh được truyền trực tiếp dạng số — loại bỏ hoàn toàn nhiễu điện từ (EMI) so với đường dẫn analog.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độ phân giải 16-bit, 32-bit; tần số lấy mẫu linh hoạt (8kHz – 48kHz).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tích hợp bộ điều khiển I2S phần cứng — DMA transfer, CPU không tải trong quá trình thu âm.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kết nối: WS (GPIO 10), SCK (GPIO 11), SD (GPIO 12).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841248"/>
            <a:ext cx="4251960" cy="3822192"/>
          </a:xfrm>
          <a:prstGeom prst="rect">
            <a:avLst/>
          </a:prstGeom>
          <a:solidFill>
            <a:srgbClr val="0F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MEMS INMP441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36592" y="135331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nghệ: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3533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 (Micro-Electro-Mechanical Systems)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36592" y="1837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183794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Kỹ thuật số I2S 24-bit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36592" y="232257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số mẫu: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3225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kHz – 48 kHz (dùng 16kHz)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36592" y="28072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Dải tần: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63640" y="2807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Hz – 15 kHz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36592" y="3291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SNR: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63640" y="3291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dBA (lọc nhiễu nền hiệu quả)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36592" y="377647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áp: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776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1.8V – 3.3V, tiêu thụ ~1.4 mA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36592" y="4315968"/>
            <a:ext cx="397764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43708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Dữ liệu ghi trực tiếp vào PSRAM dưới dạng PCM 16-bit, đóng gói WAV 44-byte header trước khi truyền.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HC-SR04 &amp; Cơ chế kích hoạt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0233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biến siêu âm HC-SR04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lý: Phát xung siêu âm 40kHz; đo thời gian echo phản hồi để tính khoảng cách.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đo được: 2 cm – 400 cm, độ chính xác ±3 mm.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Trigger (GPIO 41): ESP32 gửi xung HIGH 10µs để kích hoạt phát sóng.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Echo (GPIO 42): đo thời gian HIGH trả về, tính khoảng cách = (t × 340) / 2.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 trò: "Wake-word thụ động" — tiết kiệm năng lượng, không cần liên tục polling microphone.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84124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kích hoạt đa tầng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98848" y="1261872"/>
            <a:ext cx="4389120" cy="594360"/>
          </a:xfrm>
          <a:prstGeom prst="rect">
            <a:avLst/>
          </a:prstGeom>
          <a:solidFill>
            <a:srgbClr val="0F284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45152" y="1353312"/>
            <a:ext cx="4096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Phát hiện người (HC-SR04 &lt; 10 cm)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1856232"/>
            <a:ext cx="4389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98848" y="1965960"/>
            <a:ext cx="4389120" cy="59436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45152" y="2057400"/>
            <a:ext cx="4096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LED vàng bật · Màn hình OLED: Sẵn sàng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498848" y="2560320"/>
            <a:ext cx="4389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2670048"/>
            <a:ext cx="4389120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45152" y="2761488"/>
            <a:ext cx="4096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Người dùng nhấn nút (GPIO 18, Pull-down)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98848" y="3264408"/>
            <a:ext cx="4389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98848" y="3374136"/>
            <a:ext cx="4389120" cy="594360"/>
          </a:xfrm>
          <a:prstGeom prst="rect">
            <a:avLst/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45152" y="3465576"/>
            <a:ext cx="4096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Thu âm vào PSRAM (3 giây, WAV 16kHz)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98848" y="3968496"/>
            <a:ext cx="438912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498848" y="4078224"/>
            <a:ext cx="4389120" cy="59436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45152" y="4169664"/>
            <a:ext cx="4096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Gửi buffer qua HTTPS → Server AI xử lý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điều khiển vật lý: Động cơ Servo SG90 &amp; Chốt khóa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 cơ Servo SG90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350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khiển: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194560" y="13350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(Pulse Width Modulation) — GPIO 13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4048" y="1792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Tần số PWM: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194560" y="17922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 (chu kỳ 20ms)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Góc 0° (Khóa):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194560" y="22494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width 1.0 ms — chốt đóng hoàn toàn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Góc 90° (Mở):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194560" y="27066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width 2.0 ms — chốt mở hoàn toàn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84048" y="31638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mở: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194560" y="31638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giây — tự động quay về 0° (đóng lại)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4048" y="36210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Mô-men xoắn: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194560" y="36210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kg·cm (đủ mô phỏng chốt khóa dân dụng)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84048" y="40782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áp: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194560" y="407822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4.8V – 5V, tiêu thụ ~100–250 mA khi tải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45152" y="84124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điều khiển chốt khóa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45152" y="1261872"/>
            <a:ext cx="4224528" cy="594360"/>
          </a:xfrm>
          <a:prstGeom prst="rect">
            <a:avLst/>
          </a:prstGeom>
          <a:solidFill>
            <a:srgbClr val="0F284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12984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KHÓA (0°)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73168" y="15910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xanh · OLED: 'Đóng'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45152" y="1856232"/>
            <a:ext cx="42245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45152" y="1965960"/>
            <a:ext cx="4224528" cy="594360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20025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lệnh MỞ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773168" y="22951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nói xác thực / Lệnh MQTT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45152" y="2560320"/>
            <a:ext cx="42245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45152" y="2670048"/>
            <a:ext cx="4224528" cy="59436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73168" y="27066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quay → 90°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773168" y="299923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2.0ms · Buzzer xác nhận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645152" y="3264408"/>
            <a:ext cx="42245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45152" y="3374136"/>
            <a:ext cx="4224528" cy="59436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73168" y="3410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MỞ (5s)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773168" y="370332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đỏ · OLED: 'Mở cửa' · Telegram ghi nhận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45152" y="3968496"/>
            <a:ext cx="4224528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45152" y="4078224"/>
            <a:ext cx="4224528" cy="594360"/>
          </a:xfrm>
          <a:prstGeom prst="rect">
            <a:avLst/>
          </a:prstGeom>
          <a:solidFill>
            <a:srgbClr val="0F284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73168" y="41148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ĐÓNG (0°)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4773168" y="440740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5s · LED xanh phục hồi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 thuyết xác thực giọng nói — Speaker Verification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sánh: Nhận dạng lời nói (ASR) và Xác thực người nói (SV)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6888" y="1234440"/>
            <a:ext cx="2560320" cy="475488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 chí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07208" y="1234440"/>
            <a:ext cx="2926080" cy="475488"/>
          </a:xfrm>
          <a:prstGeom prst="rect">
            <a:avLst/>
          </a:prstGeom>
          <a:solidFill>
            <a:srgbClr val="1A4050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28016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dạng lời nói (ASR)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33288" y="1234440"/>
            <a:ext cx="2926080" cy="475488"/>
          </a:xfrm>
          <a:prstGeom prst="rect">
            <a:avLst/>
          </a:prstGeom>
          <a:solidFill>
            <a:srgbClr val="1A3040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28016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 thực người nói (SV)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" y="1764792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810512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Câu hỏi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07208" y="1764792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810512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spoken?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33288" y="1764792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810512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speaking?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" y="2295144"/>
            <a:ext cx="256032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340864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07208" y="2295144"/>
            <a:ext cx="292608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80360" y="2340864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giọng → văn bản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733288" y="2295144"/>
            <a:ext cx="292608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2340864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cá nhân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46888" y="2825496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71216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trưng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07208" y="2825496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2871216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Âm vị, từ vựng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733288" y="2825496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2871216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Voiceprint sinh trắc học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46888" y="3355848"/>
            <a:ext cx="256032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401568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Độc lập nội dung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807208" y="3355848"/>
            <a:ext cx="292608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4015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733288" y="3355848"/>
            <a:ext cx="2926080" cy="475488"/>
          </a:xfrm>
          <a:prstGeom prst="rect">
            <a:avLst/>
          </a:prstGeom>
          <a:solidFill>
            <a:srgbClr val="F1F8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06440" y="3401568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(Text-independent)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46888" y="3886200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931920"/>
            <a:ext cx="24140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807208" y="388620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393192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giọng nói, dịch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733288" y="3886200"/>
            <a:ext cx="29260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06440" y="3931920"/>
            <a:ext cx="27797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soát truy cập, pháp y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46888" y="4462272"/>
            <a:ext cx="8595360" cy="502920"/>
          </a:xfrm>
          <a:prstGeom prst="rect">
            <a:avLst/>
          </a:prstGeom>
          <a:solidFill>
            <a:srgbClr val="0F28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" y="4498848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nói người = "Dấu vân tay thanh âm" (Voiceprint): tổ hợp độc nhất của cao độ, âm sắc và nhịp điệu — không thể giả mạo hay chuyển nhượng.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Embedding &amp; Không gian vector 256 chiều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Embedding — Cách hoạt động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46888" y="1261872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học sâu (ECAPA-TDNN / ResNet) chuyển đổi tín hiệu âm thanh bất kỳ thành một vector số học 256 chiều.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này mang đặc trưng sinh trắc học của giọng nói: cao độ, âm sắc, cách phát âm — không phụ thuộc nội dung.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người nói có một 'vùng' riêng trong không gian 256 chiều — các mẫu cùng người sẽ nằm gần nhau.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đăng ký, vector mẫu được lưu vào MongoDB Atlas. Khi xác thực, vector mới được so sánh với vector đã lưu.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Quyết định: cos(θ) ≥ 0.6 → ACCEPTED | cos(θ) &lt; 0.6 → REJECTED.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230368" y="841248"/>
            <a:ext cx="3639312" cy="3822192"/>
          </a:xfrm>
          <a:prstGeom prst="rect">
            <a:avLst/>
          </a:prstGeom>
          <a:solidFill>
            <a:srgbClr val="0F2840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67528" y="914400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67528" y="1389888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cos(θ) =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B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0" y="1645920"/>
            <a:ext cx="2103120" cy="0"/>
          </a:xfrm>
          <a:prstGeom prst="line">
            <a:avLst/>
          </a:prstGeom>
          <a:noFill/>
          <a:ln w="19050">
            <a:solidFill>
              <a:srgbClr val="00C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70078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‖A‖ × ‖B‖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67528" y="224028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 giá trị: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67528" y="2578608"/>
            <a:ext cx="594360" cy="5943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67528" y="2578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94376" y="321868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toàn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 nhau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263640" y="2578608"/>
            <a:ext cx="594360" cy="5943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578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90488" y="321868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Vuông góc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(ngẫu nhiên)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59752" y="2578608"/>
            <a:ext cx="594360" cy="594360"/>
          </a:xfrm>
          <a:prstGeom prst="ellipse">
            <a:avLst/>
          </a:prstGeom>
          <a:solidFill>
            <a:srgbClr val="FFBE0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2578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86600" y="321868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toàn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055864" y="2578608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55864" y="25786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82712" y="3218688"/>
            <a:ext cx="749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Giống nhau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toàn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67528" y="3840480"/>
            <a:ext cx="3337560" cy="658368"/>
          </a:xfrm>
          <a:prstGeom prst="rect">
            <a:avLst/>
          </a:prstGeom>
          <a:solidFill>
            <a:srgbClr val="0F1E30"/>
          </a:solidFill>
          <a:ln w="12700">
            <a:solidFill>
              <a:srgbClr val="FFBE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3895344"/>
            <a:ext cx="3090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 bằng FAR &amp; FRR trong môi trường dân dụng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WeSpeaker: Quy trình huấn luyện &amp; trích xuất đặc trưng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Đặc điểm nổi bật của WeSpeaker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6888" y="1234440"/>
            <a:ext cx="202996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28930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mở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1755648" cy="0"/>
          </a:xfrm>
          <a:prstGeom prst="line">
            <a:avLst/>
          </a:prstGeom>
          <a:noFill/>
          <a:ln w="1016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17190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Cộng đồng đóng góp rộng, kiểm chứng qua nghiên cứu học thuật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41448" y="1234440"/>
            <a:ext cx="202996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2888" y="128930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78608" y="1645920"/>
            <a:ext cx="1755648" cy="0"/>
          </a:xfrm>
          <a:prstGeom prst="line">
            <a:avLst/>
          </a:prstGeom>
          <a:noFill/>
          <a:ln w="1016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7190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huấn luyện sẵn trên hàng nghìn giờ giọng nói đa ngôn ngữ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36008" y="1234440"/>
            <a:ext cx="202996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128930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Text-independent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73168" y="1645920"/>
            <a:ext cx="1755648" cy="0"/>
          </a:xfrm>
          <a:prstGeom prst="line">
            <a:avLst/>
          </a:prstGeom>
          <a:noFill/>
          <a:ln w="1016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7190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yêu cầu người dùng nói từ khóa cố định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0568" y="1234440"/>
            <a:ext cx="202996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22008" y="1289304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ECAPA-TDNN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967728" y="1645920"/>
            <a:ext cx="1755648" cy="0"/>
          </a:xfrm>
          <a:prstGeom prst="line">
            <a:avLst/>
          </a:prstGeom>
          <a:noFill/>
          <a:ln w="1016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22008" y="1719072"/>
            <a:ext cx="184708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phù hợp trích xuất Voiceprint với hiệu năng cao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6888" y="2514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xử lý âm thanh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46888" y="2907792"/>
            <a:ext cx="1389888" cy="1353312"/>
          </a:xfrm>
          <a:prstGeom prst="rect">
            <a:avLst/>
          </a:prstGeom>
          <a:solidFill>
            <a:srgbClr val="0F284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(WAV/PCM từ ESP32)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36776" y="3401568"/>
            <a:ext cx="73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709928" y="2907792"/>
            <a:ext cx="1389888" cy="1353312"/>
          </a:xfrm>
          <a:prstGeom prst="rect">
            <a:avLst/>
          </a:prstGeom>
          <a:solidFill>
            <a:srgbClr val="082030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75564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hóa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· Mono · 16-bit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99816" y="3401568"/>
            <a:ext cx="73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172968" y="2907792"/>
            <a:ext cx="1389888" cy="1353312"/>
          </a:xfrm>
          <a:prstGeom prst="rect">
            <a:avLst/>
          </a:prstGeom>
          <a:solidFill>
            <a:srgbClr val="041E1A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1868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(Mel-fbank)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62856" y="3401568"/>
            <a:ext cx="73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36008" y="2907792"/>
            <a:ext cx="1389888" cy="1353312"/>
          </a:xfrm>
          <a:prstGeom prst="rect">
            <a:avLst/>
          </a:prstGeom>
          <a:solidFill>
            <a:srgbClr val="130D20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8172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ECAPA-TDNN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Model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025896" y="3401568"/>
            <a:ext cx="73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99048" y="2907792"/>
            <a:ext cx="1389888" cy="1353312"/>
          </a:xfrm>
          <a:prstGeom prst="rect">
            <a:avLst/>
          </a:prstGeom>
          <a:solidFill>
            <a:srgbClr val="1E1004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14476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256D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488936" y="3401568"/>
            <a:ext cx="73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562088" y="2907792"/>
            <a:ext cx="1389888" cy="1353312"/>
          </a:xfrm>
          <a:prstGeom prst="rect">
            <a:avLst/>
          </a:prstGeom>
          <a:solidFill>
            <a:srgbClr val="051A0E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07808" y="2999232"/>
            <a:ext cx="129844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≥ 0.6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6888" y="4407408"/>
            <a:ext cx="8595360" cy="53035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" y="4453128"/>
            <a:ext cx="8321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ACCEPTED — Servo mở | REJECTED — Cảnh báo Telegram &amp; LED đỏ nhấp nháy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hệ thống 5 khối (Edge – Cloud – Mobile)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68680"/>
            <a:ext cx="1664208" cy="4023360"/>
          </a:xfrm>
          <a:prstGeom prst="rect">
            <a:avLst/>
          </a:prstGeom>
          <a:solidFill>
            <a:srgbClr val="0F2840"/>
          </a:solidFill>
          <a:ln w="19050">
            <a:solidFill>
              <a:srgbClr val="1A3A5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6888" y="868680"/>
            <a:ext cx="1664208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969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Sensors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" y="2231136"/>
            <a:ext cx="138988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232257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Thu âm I2S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8328" y="27523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Bộ đệm PSRAM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8328" y="31821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Điều khiển Servo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" y="36118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Màn hình OLED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11096" y="2377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02536" y="868680"/>
            <a:ext cx="1664208" cy="4023360"/>
          </a:xfrm>
          <a:prstGeom prst="rect">
            <a:avLst/>
          </a:prstGeom>
          <a:solidFill>
            <a:srgbClr val="08203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02536" y="868680"/>
            <a:ext cx="166420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02536" y="969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075688" y="15087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Collection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75688" y="190195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INMP441 MEMS Mic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39696" y="2231136"/>
            <a:ext cx="138988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93976" y="232257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16-bit PCM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93976" y="27523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WAV 44-byte Header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93976" y="31821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DMA Transfer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93976" y="36118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3s Buffer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66744" y="2377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758184" y="868680"/>
            <a:ext cx="1664208" cy="4023360"/>
          </a:xfrm>
          <a:prstGeom prst="rect">
            <a:avLst/>
          </a:prstGeom>
          <a:solidFill>
            <a:srgbClr val="041E1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58184" y="868680"/>
            <a:ext cx="166420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58184" y="969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831336" y="15087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31336" y="190195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Docker + ngrok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95344" y="2231136"/>
            <a:ext cx="138988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9624" y="232257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WeSpeaker AI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9624" y="27523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MongoDB Atlas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9624" y="31821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REST API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849624" y="36118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Telegram Bot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22392" y="2377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513832" y="868680"/>
            <a:ext cx="1664208" cy="4023360"/>
          </a:xfrm>
          <a:prstGeom prst="rect">
            <a:avLst/>
          </a:prstGeom>
          <a:solidFill>
            <a:srgbClr val="130D20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13832" y="868680"/>
            <a:ext cx="1664208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969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5586984" y="15087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86984" y="190195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650992" y="2231136"/>
            <a:ext cx="138988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05272" y="232257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Topic: command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605272" y="27523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Topic: status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605272" y="31821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QoS Level 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05272" y="36118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LWT Offline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78040" y="237744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69480" y="868680"/>
            <a:ext cx="1664208" cy="4023360"/>
          </a:xfrm>
          <a:prstGeom prst="rect">
            <a:avLst/>
          </a:prstGeom>
          <a:solidFill>
            <a:srgbClr val="1E1004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269480" y="868680"/>
            <a:ext cx="166420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9480" y="969264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600" dirty="0"/>
          </a:p>
        </p:txBody>
      </p:sp>
      <p:sp>
        <p:nvSpPr>
          <p:cNvPr id="52" name="Text 50"/>
          <p:cNvSpPr/>
          <p:nvPr/>
        </p:nvSpPr>
        <p:spPr>
          <a:xfrm>
            <a:off x="7342632" y="1508760"/>
            <a:ext cx="15179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342632" y="1901952"/>
            <a:ext cx="15179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· Expo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06640" y="2231136"/>
            <a:ext cx="138988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2322576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Đăng ký giọng nói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360920" y="2752344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Mở cửa từ xa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360920" y="3182112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Lịch sử truy cập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7360920" y="3611880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Cài đặt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nguyên lý &amp; Phân công chân kết nối GPIO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Bảng phân công GPIO — ESP32-S3 N16R8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6888" y="1234440"/>
            <a:ext cx="128016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127101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 GPIO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527048" y="1234440"/>
            <a:ext cx="18745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91056" y="127101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ngoại vi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234440"/>
            <a:ext cx="2331720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65576" y="1271016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Chức năng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33288" y="1234440"/>
            <a:ext cx="2852928" cy="438912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97296" y="1271016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 kỹ thuật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46888" y="1709928"/>
            <a:ext cx="128016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174650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10, 11, 12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27048" y="1709928"/>
            <a:ext cx="18745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1746504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INMP441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01568" y="1709928"/>
            <a:ext cx="23317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65576" y="174650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I2S (WS, SCK, SD)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33288" y="1709928"/>
            <a:ext cx="2852928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1746504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buffer → PSRAM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6888" y="2185416"/>
            <a:ext cx="12801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" y="222199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41, 42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527048" y="2185416"/>
            <a:ext cx="18745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91056" y="222199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01568" y="2185416"/>
            <a:ext cx="23317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65576" y="222199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/ Echo siêu âm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733288" y="2185416"/>
            <a:ext cx="2852928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97296" y="222199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 phát hiện: 10 cm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46888" y="2660904"/>
            <a:ext cx="128016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" y="2697480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527048" y="2660904"/>
            <a:ext cx="18745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91056" y="2697480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01568" y="2660904"/>
            <a:ext cx="23317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65576" y="2697480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 điều khiển chốt khóa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733288" y="2660904"/>
            <a:ext cx="2852928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97296" y="2697480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0°=khóa, 90°=mở (5s)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46888" y="3136392"/>
            <a:ext cx="12801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" y="3172968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8, 9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527048" y="3136392"/>
            <a:ext cx="18745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91056" y="317296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SH1106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401568" y="3136392"/>
            <a:ext cx="23317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65576" y="3172968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Hiển thị trạng thái (I2C)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733288" y="3136392"/>
            <a:ext cx="2852928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3172968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Addr: 0x3C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46888" y="3611880"/>
            <a:ext cx="128016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" y="3648456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18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527048" y="3611880"/>
            <a:ext cx="18745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91056" y="3648456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nhấn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3401568" y="3611880"/>
            <a:ext cx="23317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65576" y="3648456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Kích hoạt thu âm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733288" y="3611880"/>
            <a:ext cx="2852928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97296" y="3648456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Pull-down điện trở 10kΩ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46888" y="4087368"/>
            <a:ext cx="128016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412394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5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1527048" y="4087368"/>
            <a:ext cx="18745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91056" y="4123944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401568" y="4087368"/>
            <a:ext cx="2331720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65576" y="4123944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âm thanh xác thực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733288" y="4087368"/>
            <a:ext cx="2852928" cy="438912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97296" y="4123944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HIGH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46888" y="4562856"/>
            <a:ext cx="128016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4599432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47,48,17,6,4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1527048" y="4562856"/>
            <a:ext cx="18745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91056" y="4599432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LED tín hiệu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3401568" y="4562856"/>
            <a:ext cx="2331720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65576" y="4599432"/>
            <a:ext cx="22037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báo: Chờ/Thu/Mở/Cảnh báo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733288" y="4562856"/>
            <a:ext cx="2852928" cy="438912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97296" y="4599432"/>
            <a:ext cx="2724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Điện trở hạn dòng 220Ω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246888" y="457200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4048" y="46085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Pull-down: Nút nhấn GPIO 18 nối trở 10kΩ xuống GND — đảm bảo trạng thái mức LOW ổn định khi không nhấn, tránh trigger giả do nhiễu điện.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tiếp HTTPS: Truyền tải Audio Buffer an toàn từ PSRAM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HTTPS?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giọng nói là thông tin sinh trắc học nhạy cảm — phải mã hóa TLS 1.2/1.3.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hỗ trợ x.509 certificate, kiểm tra danh tính server chống MITM.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RESTful POST: gửi WAV buffer lên endpoint /verify hoặc /enroll.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Content-Type: audio/wav · Transfer: Multipart Form-Data.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 đóng vai trò staging area: ghi đệm 3s âm thanh trước khi gửi một lần duy nhất.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phản hồi JSON: {status, score, user_id, timestamp}.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8412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HTTPS end-to-end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261872"/>
            <a:ext cx="4251960" cy="594360"/>
          </a:xfrm>
          <a:prstGeom prst="rect">
            <a:avLst/>
          </a:prstGeom>
          <a:solidFill>
            <a:srgbClr val="0F2840"/>
          </a:solidFill>
          <a:ln w="15240">
            <a:solidFill>
              <a:srgbClr val="1A3A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3350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thu âm → lưu PSRAM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(WAV 44-byte header, 16kHz)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856232"/>
            <a:ext cx="4251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4251960" cy="594360"/>
          </a:xfrm>
          <a:prstGeom prst="rect">
            <a:avLst/>
          </a:prstGeom>
          <a:solidFill>
            <a:srgbClr val="082030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03911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/verify multipart/form-data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HTTPS (TLS 1.3)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4251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2670048"/>
            <a:ext cx="4251960" cy="594360"/>
          </a:xfrm>
          <a:prstGeom prst="rect">
            <a:avLst/>
          </a:prstGeom>
          <a:solidFill>
            <a:srgbClr val="041E1A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27432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server nhận · Chuẩn hóa audio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Chạy WeSpeaker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264408"/>
            <a:ext cx="4251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3374136"/>
            <a:ext cx="4251960" cy="594360"/>
          </a:xfrm>
          <a:prstGeom prst="rect">
            <a:avLst/>
          </a:prstGeom>
          <a:solidFill>
            <a:srgbClr val="051A0E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44728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Cosine ≥ 0.6?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JSON response ACCEPTED/REJECTED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3968496"/>
            <a:ext cx="42519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4078224"/>
            <a:ext cx="4251960" cy="594360"/>
          </a:xfrm>
          <a:prstGeom prst="rect">
            <a:avLst/>
          </a:prstGeom>
          <a:solidFill>
            <a:srgbClr val="130D20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415137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nhận 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Điều khiển Servo + OLED + LED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thức MQTT: Điều khiển thời gian thực qua HiveMQ Cloud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Sơ đồ Topic MQTT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6888" y="1234440"/>
            <a:ext cx="2057400" cy="777240"/>
          </a:xfrm>
          <a:prstGeom prst="rect">
            <a:avLst/>
          </a:prstGeom>
          <a:solidFill>
            <a:srgbClr val="130D20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" y="1261872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Native)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38728" y="1234440"/>
            <a:ext cx="2057400" cy="777240"/>
          </a:xfrm>
          <a:prstGeom prst="rect">
            <a:avLst/>
          </a:prstGeom>
          <a:solidFill>
            <a:srgbClr val="08203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30168" y="1261872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 Server)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30568" y="1234440"/>
            <a:ext cx="2057400" cy="777240"/>
          </a:xfrm>
          <a:prstGeom prst="rect">
            <a:avLst/>
          </a:prstGeom>
          <a:solidFill>
            <a:srgbClr val="051A0E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22008" y="1261872"/>
            <a:ext cx="1874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 Device)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08960" y="2331720"/>
            <a:ext cx="2926080" cy="822960"/>
          </a:xfrm>
          <a:prstGeom prst="rect">
            <a:avLst/>
          </a:prstGeom>
          <a:solidFill>
            <a:srgbClr val="0F2840"/>
          </a:solidFill>
          <a:ln w="25400">
            <a:solidFill>
              <a:srgbClr val="00C8E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08960" y="2359152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271016" y="2011680"/>
            <a:ext cx="2386584" cy="320040"/>
          </a:xfrm>
          <a:prstGeom prst="line">
            <a:avLst/>
          </a:prstGeom>
          <a:noFill/>
          <a:ln w="19050">
            <a:solidFill>
              <a:srgbClr val="6D28D9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5120640" y="2011680"/>
            <a:ext cx="1709928" cy="32004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657600" y="3154680"/>
            <a:ext cx="1371600" cy="32004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120640" y="3154680"/>
            <a:ext cx="1709928" cy="320040"/>
          </a:xfrm>
          <a:prstGeom prst="line">
            <a:avLst/>
          </a:prstGeom>
          <a:noFill/>
          <a:ln w="19050">
            <a:solidFill>
              <a:srgbClr val="05966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6888" y="4133088"/>
            <a:ext cx="91440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16052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Level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61288" y="4133088"/>
            <a:ext cx="2560320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07008" y="4160520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21608" y="4133088"/>
            <a:ext cx="4864608" cy="274320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7328" y="4160520"/>
            <a:ext cx="4773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 dụng trong hệ thống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" y="4425696"/>
            <a:ext cx="91440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4453128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61288" y="4425696"/>
            <a:ext cx="256032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07008" y="445312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tối đa 1 lần (không xác nhận)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21608" y="4425696"/>
            <a:ext cx="4864608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4453128"/>
            <a:ext cx="4773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Trạng thái status (chấp nhận mất gói)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" y="4718304"/>
            <a:ext cx="91440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" y="4745736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161288" y="4718304"/>
            <a:ext cx="2560320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07008" y="4745736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nhận ÍT NHẤT 1 lần ✓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21608" y="4718304"/>
            <a:ext cx="4864608" cy="274320"/>
          </a:xfrm>
          <a:prstGeom prst="rect">
            <a:avLst/>
          </a:prstGeom>
          <a:solidFill>
            <a:srgbClr val="D1FAE5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67328" y="4745736"/>
            <a:ext cx="4773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command — dùng trong hệ thống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46888" y="5010912"/>
            <a:ext cx="91440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5038344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161288" y="5010912"/>
            <a:ext cx="256032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7008" y="5038344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 bảo chính xác 1 lần (chậm)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21608" y="5010912"/>
            <a:ext cx="4864608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67328" y="5038344"/>
            <a:ext cx="4773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dùng (overhead lớn trên ESP32)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Cơ chế bảo mật Last Will &amp; Testament (LWT) của MQTT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8595360" cy="621792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Vấn đề: ESP32 mất điện/mất WiFi đột ngột mà không gửi được gói DISCONNECT → Backend không biết thiết bị đang offline → Nguy cơ chấp nhận lệnh mở cửa khi thiết bị không khả dụng!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" y="16002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MQTT Last Will &amp; Testament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46888" y="2029968"/>
            <a:ext cx="2029968" cy="2651760"/>
          </a:xfrm>
          <a:prstGeom prst="rect">
            <a:avLst/>
          </a:prstGeom>
          <a:solidFill>
            <a:srgbClr val="08203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" y="2029968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139696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KẾT NỐI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633472"/>
            <a:ext cx="1847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gửi CONNECT packet kèm LWT: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Topic: "smartdoor/status"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Message: "offline"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QoS: 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76856" y="32461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41448" y="2029968"/>
            <a:ext cx="2029968" cy="2651760"/>
          </a:xfrm>
          <a:prstGeom prst="rect">
            <a:avLst/>
          </a:prstGeom>
          <a:solidFill>
            <a:srgbClr val="051A0E"/>
          </a:solidFill>
          <a:ln w="1905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41448" y="2029968"/>
            <a:ext cx="2029968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2888" y="2139696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VẬN HÀNH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7860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32888" y="2633472"/>
            <a:ext cx="1847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Hoạt động bình thường: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"online" lên status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PINGREQ keepalive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lệnh command bình thường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71416" y="32461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36008" y="2029968"/>
            <a:ext cx="2029968" cy="2651760"/>
          </a:xfrm>
          <a:prstGeom prst="rect">
            <a:avLst/>
          </a:prstGeom>
          <a:solidFill>
            <a:srgbClr val="1E0808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36008" y="2029968"/>
            <a:ext cx="2029968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2139696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MẤT KẾT NỐI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7316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27448" y="2633472"/>
            <a:ext cx="1847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offline đột ngột: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gửi được DISCONNECT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phát hiện qua keepalive timeout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phát LWT "offline"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65976" y="32461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830568" y="2029968"/>
            <a:ext cx="2029968" cy="2651760"/>
          </a:xfrm>
          <a:prstGeom prst="rect">
            <a:avLst/>
          </a:prstGeom>
          <a:solidFill>
            <a:srgbClr val="1E1004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30568" y="2029968"/>
            <a:ext cx="20299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22008" y="2139696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PHỤC HỒI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6772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2633472"/>
            <a:ext cx="1847088" cy="1901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nhận "offline":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trạng thái thiết bị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lệnh mở cửa từ xa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hiển thị "Thiết bị offline"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6888" y="4773168"/>
            <a:ext cx="859536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quả: App luôn hiển thị đúng trạng thái thiết bị, ngăn chặn lệnh từ xa khi ESP32 không khả dụng.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 hợp Telegram Bot API cho cảnh báo an ninh tức thời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16052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Telegram Bot?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cần cơ sở hạ tầng push notification riêng — Telegram API miễn phí và đáng tin cậy.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thông báo tức thời (&lt; 1s) đến điện thoại chủ nhà bất kể nền tảng.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Hỗ trợ gửi văn bản, hình ảnh (nếu tích hợp camera) và nút tương tác inline.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gọi Telegram Bot API trong luồng background thread — không ảnh hưởng tốc độ phản hồi chính.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trữ chat_id trong MongoDB — dễ mở rộng nhiều thành viên gia đình.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17720" y="841248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kịch bản thông báo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261872"/>
            <a:ext cx="4251960" cy="749808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36592" y="1316736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Mở cửa thành công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36592" y="1627632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nói xác thực → "Chào [Tên]! Cửa đã mở lúc 08:32."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17720" y="2112264"/>
            <a:ext cx="4251960" cy="749808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36592" y="21671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Từ chối xâm nhập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6592" y="2478024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0.6 → "⚠ Có người lạ cố gắng truy cập! Điểm: 0.42"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962656"/>
            <a:ext cx="4251960" cy="749808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36592" y="3017520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Mở cửa từ xa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36592" y="3328416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Lệnh MQTT từ app → "Cửa mở từ xa bởi [User] lúc 14:15."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3813048"/>
            <a:ext cx="4251960" cy="749808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386791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📴 Thiết bị offline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36592" y="4178808"/>
            <a:ext cx="4005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trigger → "⚠ Thiết bị SmartDoor mất kết nối lúc 09:00."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dữ liệu trên MongoDB Atlas (Vector sinh trắc học)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trong MongoDB Atlas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46888" y="1234440"/>
            <a:ext cx="4224528" cy="3520440"/>
          </a:xfrm>
          <a:prstGeom prst="rect">
            <a:avLst/>
          </a:prstGeom>
          <a:solidFill>
            <a:srgbClr val="0F284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" y="12984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" y="1627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người dùng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56616" y="1901952"/>
            <a:ext cx="39776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993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69164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34056" y="1993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duy nhất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2432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91640" y="24323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34056" y="24323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Tên đăng nhập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8712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91640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734056" y="28712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 khẩu (bcrypt)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full_name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691640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34056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tên hiển thị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voice_embedding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691640" y="3749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Array[256]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34056" y="37490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đặc trưng 256D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91640" y="41879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34056" y="4187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điểm đăng ký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81728" y="1234440"/>
            <a:ext cx="4224528" cy="3520440"/>
          </a:xfrm>
          <a:prstGeom prst="rect">
            <a:avLst/>
          </a:prstGeom>
          <a:solidFill>
            <a:srgbClr val="0F28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91456" y="12984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db.access_logs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91456" y="1627632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vận hành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91456" y="1901952"/>
            <a:ext cx="3977640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19933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26480" y="19933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68896" y="199339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 log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18888" y="24323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26480" y="243230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users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168896" y="2432304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liên quan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18888" y="28712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126480" y="287121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168896" y="287121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điểm sự kiện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18888" y="3310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126480" y="331012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168896" y="3310128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/ remote / rejected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818888" y="37490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126480" y="37490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68896" y="3749040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score (nếu có)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818888" y="41879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26480" y="41879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68896" y="418795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/ rejected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246888" y="4828032"/>
            <a:ext cx="8595360" cy="201168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84048" y="4846320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voice_embedding: [0.023, -0.158, 0.441, ..., 0.087]  // 256 giá trị float64 — Voiceprint sinh trắc học độc nhất của mỗi người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di động React Native: Giao diện &amp; Trải nghiệm người dùng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8595360" cy="502920"/>
          </a:xfrm>
          <a:prstGeom prst="rect">
            <a:avLst/>
          </a:prstGeom>
          <a:solidFill>
            <a:srgbClr val="0F2840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8696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0.80 · Expo · Hỗ trợ Android &amp; iOS từ một mã nguồn chung · Giao diện tối (Dark UI) tông màu Tím–Xanh hiện đại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6888" y="1426464"/>
            <a:ext cx="2029968" cy="3218688"/>
          </a:xfrm>
          <a:prstGeom prst="rect">
            <a:avLst/>
          </a:prstGeom>
          <a:solidFill>
            <a:srgbClr val="130D20"/>
          </a:solidFill>
          <a:ln w="1905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" y="1426464"/>
            <a:ext cx="2029968" cy="7315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" y="151790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0040" y="202996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 / Đăng ký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6517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Nhập họ tên, username, mật khẩu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8328" y="308152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Thu âm giọng nói trực tiếp trên app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8328" y="3511296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Nghe lại bản ghi trước khi gửi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8328" y="3941064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Lưu session token — không đăng nhập lại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41448" y="1426464"/>
            <a:ext cx="2029968" cy="3218688"/>
          </a:xfrm>
          <a:prstGeom prst="rect">
            <a:avLst/>
          </a:prstGeom>
          <a:solidFill>
            <a:srgbClr val="082030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41448" y="1426464"/>
            <a:ext cx="2029968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41448" y="151790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14600" y="202996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chủ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860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26517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Lời chào cá nhân hoá theo tên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32888" y="308152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Trạng thái hệ thống real-time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532888" y="3511296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Nút 'Mở Cửa Từ Xa' (lệnh MQTT)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32888" y="3941064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Phản hồi rõ: thành công / offline / lỗi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36008" y="1426464"/>
            <a:ext cx="2029968" cy="3218688"/>
          </a:xfrm>
          <a:prstGeom prst="rect">
            <a:avLst/>
          </a:prstGeom>
          <a:solidFill>
            <a:srgbClr val="041E1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6008" y="1426464"/>
            <a:ext cx="202996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151790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709160" y="202996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sử truy cập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7316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27448" y="26517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Xem toàn bộ sự kiện mở/đóng cửa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308152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Tìm kiếm theo tên người dùng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3511296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Lọc theo thời gian &amp; trạng thái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3941064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Phân trang — tải dữ liệu từ MongoDB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830568" y="1426464"/>
            <a:ext cx="2029968" cy="3218688"/>
          </a:xfrm>
          <a:prstGeom prst="rect">
            <a:avLst/>
          </a:prstGeom>
          <a:solidFill>
            <a:srgbClr val="1E1004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0568" y="1426464"/>
            <a:ext cx="202996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30568" y="1517904"/>
            <a:ext cx="2029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6903720" y="2029968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đặt tài khoản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67728" y="2542032"/>
            <a:ext cx="175564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22008" y="2651760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Xem thông tin hồ sơ cá nhân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922008" y="3081528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Chỉnh sửa họ tên hiển thị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922008" y="3511296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Cập nhật giọng nói xác thực mới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22008" y="3941064"/>
            <a:ext cx="18470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Đăng xuất — xóa session token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triển khai thực tế &amp; Hình ảnh mô hình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41248"/>
            <a:ext cx="4251960" cy="3822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phần cứng thực tế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40050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N16R8 gắn trên board phát triển — nạp firmware qua USB.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INMP441 kết nối I2S 3 dây — nhận diện giọng nói ổn định ở khoảng cách 20–30 cm.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Màn hình OLED 1.3" SH1106 hiển thị trạng thái trực quan tại cửa.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SG90 điều khiển chốt mô phỏng — hiệu chỉnh 0° (khóa) và 90° (mở 5s).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HC-SR04 đặt ở độ cao ngang ngực — phát hiện người trong vòng 10 cm.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LED 4 màu + Buzzer cung cấp phản hồi trực quan và âm thanh rõ ràng.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AP fallback 'SmartDoor_Setup' tự động khởi động khi mất mạng.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09160" y="841248"/>
            <a:ext cx="4160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đo lường thực tế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09160" y="1261872"/>
            <a:ext cx="2011680" cy="969264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3167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93–95%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82312" y="182880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xác thực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261872"/>
            <a:ext cx="2011680" cy="969264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0" y="1316736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931152" y="1828800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Phản hồi end-to-end đầy đủ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340864"/>
            <a:ext cx="2011680" cy="969264"/>
          </a:xfrm>
          <a:prstGeom prst="rect">
            <a:avLst/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782312" y="290779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lệnh MQTT từ xa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340864"/>
            <a:ext cx="2011680" cy="969264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0" y="23957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31152" y="290779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lịch sử trên app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3419856"/>
            <a:ext cx="2011680" cy="969264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3474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5–60 s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82312" y="398678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tự kết nối lại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0" y="3419856"/>
            <a:ext cx="2011680" cy="969264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0" y="34747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931152" y="3986784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báo Telegram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thử kịch bản: 9 tình huống vận hành hệ thống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246888" y="804672"/>
            <a:ext cx="274320" cy="402336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41248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21208" y="804672"/>
            <a:ext cx="2578608" cy="402336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84124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kiểm thử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099816" y="804672"/>
            <a:ext cx="1645920" cy="402336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84124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 kiện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5736" y="804672"/>
            <a:ext cx="1993392" cy="402336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91456" y="84124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mong đợi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39128" y="804672"/>
            <a:ext cx="1389888" cy="402336"/>
          </a:xfrm>
          <a:prstGeom prst="rect">
            <a:avLst/>
          </a:prstGeom>
          <a:solidFill>
            <a:srgbClr val="1A3A5C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84124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quả thực tế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" y="1243584"/>
            <a:ext cx="2743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128016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1208" y="1243584"/>
            <a:ext cx="257860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128016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hợp lệ xác thực giọng nói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099816" y="1243584"/>
            <a:ext cx="16459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45536" y="128016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rõ, môi trường yên tĩnh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45736" y="1243584"/>
            <a:ext cx="1993392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91456" y="1280160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≥ 0.6, mở cửa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39128" y="1243584"/>
            <a:ext cx="138988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128016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46888" y="1682496"/>
            <a:ext cx="2743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1719072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21208" y="1682496"/>
            <a:ext cx="257860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171907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lạ cố truy cập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99816" y="1682496"/>
            <a:ext cx="16459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45536" y="171907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Giọng không đăng ký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45736" y="1682496"/>
            <a:ext cx="1993392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171907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&lt; 0.6, cảnh báo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39128" y="1682496"/>
            <a:ext cx="138988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84848" y="171907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46888" y="2121408"/>
            <a:ext cx="2743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157984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21208" y="2121408"/>
            <a:ext cx="257860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215798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 công replay (phát lại ghi âm)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099816" y="2121408"/>
            <a:ext cx="16459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145536" y="215798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ghi âm người đăng ký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45736" y="2121408"/>
            <a:ext cx="1993392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91456" y="2157984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(biến đổi âm học)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39128" y="2121408"/>
            <a:ext cx="138988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84848" y="215798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46888" y="2560320"/>
            <a:ext cx="2743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259689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21208" y="2560320"/>
            <a:ext cx="257860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" y="259689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cửa từ xa (MQTT)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99816" y="2560320"/>
            <a:ext cx="16459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5536" y="259689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→ Backend → ESP32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45736" y="2560320"/>
            <a:ext cx="1993392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91456" y="2596896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mở &lt; 1s sau lệnh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739128" y="2560320"/>
            <a:ext cx="138988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84848" y="259689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46888" y="2999232"/>
            <a:ext cx="2743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92608" y="3035808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21208" y="2999232"/>
            <a:ext cx="257860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6928" y="3035808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bị mất WiFi (LWT)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099816" y="2999232"/>
            <a:ext cx="16459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45536" y="30358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Ngắt WiFi đột ngột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745736" y="2999232"/>
            <a:ext cx="1993392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91456" y="303580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hiển thị 'Offline'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39128" y="2999232"/>
            <a:ext cx="138988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84848" y="3035808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46888" y="3438144"/>
            <a:ext cx="2743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92608" y="3474720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21208" y="3438144"/>
            <a:ext cx="257860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" y="3474720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Nhiễu môi trường cao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3099816" y="3438144"/>
            <a:ext cx="16459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45536" y="347472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Tiếng nhạc &gt;70 dB nền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745736" y="3438144"/>
            <a:ext cx="1993392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791456" y="3474720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chối hoặc yêu cầu lại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6739128" y="3438144"/>
            <a:ext cx="138988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84848" y="3474720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46888" y="3877056"/>
            <a:ext cx="2743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2608" y="3913632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21208" y="3877056"/>
            <a:ext cx="257860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6928" y="3913632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lại tự động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3099816" y="3877056"/>
            <a:ext cx="16459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145536" y="39136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Tắt/bật WiFi router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4745736" y="3877056"/>
            <a:ext cx="1993392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791456" y="3913632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lại trong 5–60s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6739128" y="3877056"/>
            <a:ext cx="138988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84848" y="3913632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46888" y="4315968"/>
            <a:ext cx="2743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92608" y="4352544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521208" y="4315968"/>
            <a:ext cx="257860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66928" y="4352544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ký giọng nói mới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099816" y="4315968"/>
            <a:ext cx="1645920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45536" y="4352544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mới trên app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4745736" y="4315968"/>
            <a:ext cx="1993392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791456" y="4352544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lưu MongoDB thành công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6739128" y="4315968"/>
            <a:ext cx="1389888" cy="402336"/>
          </a:xfrm>
          <a:prstGeom prst="rect">
            <a:avLst/>
          </a:prstGeom>
          <a:solidFill>
            <a:srgbClr val="F8FB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784848" y="4352544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46888" y="4754880"/>
            <a:ext cx="2743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92608" y="4791456"/>
            <a:ext cx="182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521208" y="4754880"/>
            <a:ext cx="257860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566928" y="4791456"/>
            <a:ext cx="24871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 nhật giọng nói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3099816" y="4754880"/>
            <a:ext cx="1645920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45536" y="4791456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dùng cũ đổi mẫu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4745736" y="4754880"/>
            <a:ext cx="1993392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791456" y="4791456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mới ghi đè, xác thực OK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6739128" y="4754880"/>
            <a:ext cx="1389888" cy="402336"/>
          </a:xfrm>
          <a:prstGeom prst="rect">
            <a:avLst/>
          </a:prstGeom>
          <a:solidFill>
            <a:srgbClr val="EDF5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784848" y="4791456"/>
            <a:ext cx="12984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PASSED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888" y="219456"/>
            <a:ext cx="64008" cy="47548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độ chính xác (93–95%) &amp; Hiệu năng thời gian phản hồi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0" y="491032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46888" y="841248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theo điều kiện môi trường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46888" y="123444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46888" y="39319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2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ngưỡng Threshold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246888" y="4224528"/>
          <a:ext cx="5120640" cy="80467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596128" y="841248"/>
            <a:ext cx="1627632" cy="105156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596128" y="89611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5650992" y="1499616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(yên tĩnh)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7333488" y="841248"/>
            <a:ext cx="1627632" cy="1051560"/>
          </a:xfrm>
          <a:prstGeom prst="rect">
            <a:avLst/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333488" y="896112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7388352" y="1499616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chính xác (nhiễu nhẹ)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596128" y="2011680"/>
            <a:ext cx="1627632" cy="1051560"/>
          </a:xfrm>
          <a:prstGeom prst="rect">
            <a:avLst/>
          </a:prstGeom>
          <a:solidFill>
            <a:srgbClr val="EFF6FF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5596128" y="20665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5650992" y="2670048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tối ưu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333488" y="2011680"/>
            <a:ext cx="1627632" cy="1051560"/>
          </a:xfrm>
          <a:prstGeom prst="rect">
            <a:avLst/>
          </a:prstGeom>
          <a:solidFill>
            <a:srgbClr val="EDE9FE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333488" y="2066544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s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7388352" y="2670048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xử lý AI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596128" y="3182112"/>
            <a:ext cx="1627632" cy="105156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5596128" y="323697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</a:t>
            </a:r>
            <a:endParaRPr lang="en-US" sz="2600" dirty="0"/>
          </a:p>
        </p:txBody>
      </p:sp>
      <p:sp>
        <p:nvSpPr>
          <p:cNvPr id="23" name="Text 19"/>
          <p:cNvSpPr/>
          <p:nvPr/>
        </p:nvSpPr>
        <p:spPr>
          <a:xfrm>
            <a:off x="5650992" y="3840480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 trễ MQTT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333488" y="3182112"/>
            <a:ext cx="1627632" cy="1051560"/>
          </a:xfrm>
          <a:prstGeom prst="rect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7333488" y="3236976"/>
            <a:ext cx="16276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2600" dirty="0"/>
          </a:p>
        </p:txBody>
      </p:sp>
      <p:sp>
        <p:nvSpPr>
          <p:cNvPr id="26" name="Text 22"/>
          <p:cNvSpPr/>
          <p:nvPr/>
        </p:nvSpPr>
        <p:spPr>
          <a:xfrm>
            <a:off x="7388352" y="3840480"/>
            <a:ext cx="1517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9/9 kịch bản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C8E8"/>
          </a:solidFill>
          <a:ln w="12700">
            <a:solidFill>
              <a:srgbClr val="00C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46888" y="164592"/>
            <a:ext cx="8650224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&amp; Hướng phát triển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46888" y="804672"/>
            <a:ext cx="2788920" cy="2267712"/>
          </a:xfrm>
          <a:prstGeom prst="rect">
            <a:avLst/>
          </a:prstGeom>
          <a:solidFill>
            <a:srgbClr val="0F2840"/>
          </a:solidFill>
          <a:ln w="15240">
            <a:solidFill>
              <a:srgbClr val="0891B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" y="87782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Phần cứng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" y="1307592"/>
            <a:ext cx="257860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081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ESP32-S3 đa lõi xử lý song song hiệu quả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19293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PSRAM đảm bảo audio buffer ổn định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Thiết kế GPIO chuẩn Pull-down an toàn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91256" y="804672"/>
            <a:ext cx="2788920" cy="2267712"/>
          </a:xfrm>
          <a:prstGeom prst="rect">
            <a:avLst/>
          </a:prstGeom>
          <a:solidFill>
            <a:srgbClr val="0F2840"/>
          </a:solidFill>
          <a:ln w="15240">
            <a:solidFill>
              <a:srgbClr val="6D28D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00984" y="87782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Phần mềm &amp; AI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00984" y="1307592"/>
            <a:ext cx="257860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4081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Pipeline WeSpeaker xác thực chính xác 93–95%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28416" y="19293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Text-independent — không ràng buộc từ khóa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28416" y="2450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Cosine Similarity Threshold 0.6 tối ưu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804672"/>
            <a:ext cx="2788920" cy="2267712"/>
          </a:xfrm>
          <a:prstGeom prst="rect">
            <a:avLst/>
          </a:prstGeom>
          <a:solidFill>
            <a:srgbClr val="0F2840"/>
          </a:solidFill>
          <a:ln w="1524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45352" y="877824"/>
            <a:ext cx="25786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Hệ sinh thái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45352" y="1307592"/>
            <a:ext cx="2578608" cy="0"/>
          </a:xfrm>
          <a:prstGeom prst="line">
            <a:avLst/>
          </a:prstGeom>
          <a:noFill/>
          <a:ln w="1016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408176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MQTT (LWT) + HTTPS + Telegram đảm bảo an toàn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72784" y="1929384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MongoDB Atlas lưu trữ vector sinh trắc học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72784" y="2450592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App React Native cross-platform hoàn chỉnh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" y="3172968"/>
            <a:ext cx="8650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phát triển tiếp theo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46888" y="3566160"/>
            <a:ext cx="2029968" cy="1143000"/>
          </a:xfrm>
          <a:prstGeom prst="rect">
            <a:avLst/>
          </a:prstGeom>
          <a:solidFill>
            <a:srgbClr val="0F2840"/>
          </a:solidFill>
          <a:ln w="12700">
            <a:solidFill>
              <a:srgbClr val="FFB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" y="3630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 khai mô hình on-device trên ESP32 — hoạt động khi mất Internet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41448" y="3566160"/>
            <a:ext cx="2029968" cy="1143000"/>
          </a:xfrm>
          <a:prstGeom prst="rect">
            <a:avLst/>
          </a:prstGeom>
          <a:solidFill>
            <a:srgbClr val="0F2840"/>
          </a:solidFill>
          <a:ln w="12700">
            <a:solidFill>
              <a:srgbClr val="FFB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32888" y="3630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32888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hợp nhận diện khuôn mặt + giọng nói → bảo mật đa lớp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36008" y="3566160"/>
            <a:ext cx="2029968" cy="1143000"/>
          </a:xfrm>
          <a:prstGeom prst="rect">
            <a:avLst/>
          </a:prstGeom>
          <a:solidFill>
            <a:srgbClr val="0F2840"/>
          </a:solidFill>
          <a:ln w="12700">
            <a:solidFill>
              <a:srgbClr val="FFB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27448" y="3630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PCB chuyên dụng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27448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lại mạch in giảm nhiễu, tích hợp pin dự phòng Deep Sleep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30568" y="3566160"/>
            <a:ext cx="2029968" cy="1143000"/>
          </a:xfrm>
          <a:prstGeom prst="rect">
            <a:avLst/>
          </a:prstGeom>
          <a:solidFill>
            <a:srgbClr val="0F2840"/>
          </a:solidFill>
          <a:ln w="12700">
            <a:solidFill>
              <a:srgbClr val="FFBE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922008" y="363016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Analytics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3950208"/>
            <a:ext cx="184708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tích hành vi truy cập, cảnh báo thông minh theo thói quen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371600" y="4754880"/>
            <a:ext cx="6400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00600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B93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Xin chân thành cảm ơn Thầy và Hội đồng đã lắng nghe!  ·  Chúng em sẵn sàng giải đáp câu hỏi.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2026-05-16T16:09:43Z</dcterms:created>
  <dcterms:modified xsi:type="dcterms:W3CDTF">2026-05-16T16:09:43Z</dcterms:modified>
</cp:coreProperties>
</file>